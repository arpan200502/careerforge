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8" r:id="rId3"/>
    <p:sldId id="276" r:id="rId4"/>
    <p:sldId id="277" r:id="rId5"/>
    <p:sldId id="267" r:id="rId6"/>
    <p:sldId id="278" r:id="rId7"/>
    <p:sldId id="257" r:id="rId8"/>
    <p:sldId id="273" r:id="rId9"/>
    <p:sldId id="272" r:id="rId10"/>
    <p:sldId id="259" r:id="rId11"/>
    <p:sldId id="260" r:id="rId12"/>
    <p:sldId id="261" r:id="rId13"/>
    <p:sldId id="270" r:id="rId14"/>
    <p:sldId id="269" r:id="rId15"/>
    <p:sldId id="268" r:id="rId16"/>
    <p:sldId id="274" r:id="rId17"/>
    <p:sldId id="275" r:id="rId18"/>
    <p:sldId id="262" r:id="rId19"/>
    <p:sldId id="263" r:id="rId20"/>
    <p:sldId id="264" r:id="rId21"/>
    <p:sldId id="265" r:id="rId22"/>
    <p:sldId id="266" r:id="rId23"/>
    <p:sldId id="271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FA98A-52B4-43BE-BAAF-7B12D6F9BABC}" type="datetimeFigureOut">
              <a:rPr lang="en-US" smtClean="0"/>
              <a:t>27-Jul-23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506920-7D34-4F79-98CA-86F0FF2BA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865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9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de-DE" smtClean="0"/>
          </a:p>
        </p:txBody>
      </p:sp>
      <p:sp>
        <p:nvSpPr>
          <p:cNvPr id="4" name="Datumsplatzhalt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3654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6A7B3-3E5A-431B-BBBC-71FB81977208}" type="datetimeFigureOut">
              <a:rPr lang="en-US" smtClean="0"/>
              <a:t>27-Jul-23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00056-3B9F-409B-82E9-C13FFD12A237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6A7B3-3E5A-431B-BBBC-71FB81977208}" type="datetimeFigureOut">
              <a:rPr lang="en-US" smtClean="0"/>
              <a:t>27-Jul-23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00056-3B9F-409B-82E9-C13FFD12A237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6A7B3-3E5A-431B-BBBC-71FB81977208}" type="datetimeFigureOut">
              <a:rPr lang="en-US" smtClean="0"/>
              <a:t>27-Jul-23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00056-3B9F-409B-82E9-C13FFD12A237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6A7B3-3E5A-431B-BBBC-71FB81977208}" type="datetimeFigureOut">
              <a:rPr lang="en-US" smtClean="0"/>
              <a:t>27-Jul-23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00056-3B9F-409B-82E9-C13FFD12A237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6A7B3-3E5A-431B-BBBC-71FB81977208}" type="datetimeFigureOut">
              <a:rPr lang="en-US" smtClean="0"/>
              <a:t>27-Jul-23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00056-3B9F-409B-82E9-C13FFD12A237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6A7B3-3E5A-431B-BBBC-71FB81977208}" type="datetimeFigureOut">
              <a:rPr lang="en-US" smtClean="0"/>
              <a:t>27-Jul-23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00056-3B9F-409B-82E9-C13FFD12A237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6A7B3-3E5A-431B-BBBC-71FB81977208}" type="datetimeFigureOut">
              <a:rPr lang="en-US" smtClean="0"/>
              <a:t>27-Jul-23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00056-3B9F-409B-82E9-C13FFD12A237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6A7B3-3E5A-431B-BBBC-71FB81977208}" type="datetimeFigureOut">
              <a:rPr lang="en-US" smtClean="0"/>
              <a:t>27-Jul-23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00056-3B9F-409B-82E9-C13FFD12A237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6A7B3-3E5A-431B-BBBC-71FB81977208}" type="datetimeFigureOut">
              <a:rPr lang="en-US" smtClean="0"/>
              <a:t>27-Jul-23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00056-3B9F-409B-82E9-C13FFD12A237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6A7B3-3E5A-431B-BBBC-71FB81977208}" type="datetimeFigureOut">
              <a:rPr lang="en-US" smtClean="0"/>
              <a:t>27-Jul-23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00056-3B9F-409B-82E9-C13FFD12A237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6A7B3-3E5A-431B-BBBC-71FB81977208}" type="datetimeFigureOut">
              <a:rPr lang="en-US" smtClean="0"/>
              <a:t>27-Jul-23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00056-3B9F-409B-82E9-C13FFD12A237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6A7B3-3E5A-431B-BBBC-71FB81977208}" type="datetimeFigureOut">
              <a:rPr lang="en-US" smtClean="0"/>
              <a:t>27-Jul-23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300056-3B9F-409B-82E9-C13FFD12A237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AP-Train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0"/>
            <a:ext cx="8915400" cy="3905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33401"/>
            <a:ext cx="7772400" cy="1981199"/>
          </a:xfrm>
        </p:spPr>
        <p:txBody>
          <a:bodyPr/>
          <a:lstStyle/>
          <a:p>
            <a:r>
              <a:rPr lang="en-US" dirty="0" smtClean="0"/>
              <a:t>What is ERP?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2514600"/>
            <a:ext cx="9144000" cy="38862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Enterprise Resource Planning </a:t>
            </a:r>
          </a:p>
          <a:p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Andalus" pitchFamily="18" charset="-78"/>
                <a:cs typeface="Andalus" pitchFamily="18" charset="-78"/>
              </a:rPr>
              <a:t>ERP is a business software system that support business or enterprise throughout the organizing, planning, maintaining, tracking and utilization of organization resources (Man, Machine, Material  and Money)</a:t>
            </a:r>
            <a:endParaRPr lang="en-US" dirty="0">
              <a:solidFill>
                <a:schemeClr val="tx2">
                  <a:lumMod val="75000"/>
                </a:schemeClr>
              </a:solidFill>
              <a:latin typeface="Andalus" pitchFamily="18" charset="-78"/>
              <a:cs typeface="Andalus" pitchFamily="18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 of ERP System:	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Oracle Finance</a:t>
            </a:r>
          </a:p>
          <a:p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People Soft</a:t>
            </a:r>
          </a:p>
          <a:p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BANN</a:t>
            </a:r>
          </a:p>
          <a:p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JD Edwards</a:t>
            </a:r>
          </a:p>
          <a:p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SAP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3843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Integration: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417638"/>
            <a:ext cx="9144000" cy="544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594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/>
          <a:lstStyle/>
          <a:p>
            <a:r>
              <a:rPr lang="en-US" dirty="0" smtClean="0"/>
              <a:t>ERP System</a:t>
            </a:r>
            <a:endParaRPr lang="en-US" dirty="0"/>
          </a:p>
        </p:txBody>
      </p:sp>
      <p:pic>
        <p:nvPicPr>
          <p:cNvPr id="3" name="Picture 2" descr="ERP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1" y="1189188"/>
            <a:ext cx="8001000" cy="56688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What we are looking for: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5400"/>
            <a:ext cx="91440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193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What is SAP?	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3886200"/>
            <a:ext cx="6705600" cy="17526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2">
                    <a:lumMod val="75000"/>
                  </a:schemeClr>
                </a:solidFill>
                <a:latin typeface="Andalus" pitchFamily="18" charset="-78"/>
                <a:cs typeface="Andalus" pitchFamily="18" charset="-78"/>
              </a:rPr>
              <a:t>Systems Applications Products in Data Processing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Andalus" pitchFamily="18" charset="-78"/>
              <a:cs typeface="Andalus" pitchFamily="18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/>
              <a:t>SAP History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SAP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Founded in and around 1972 by five IBM engineers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Hopp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Wellenreuther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, Hector,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Tschira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and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Plattner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pPr fontAlgn="base"/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In that time the name was SAP AG. 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8950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92162"/>
          </a:xfrm>
        </p:spPr>
        <p:txBody>
          <a:bodyPr/>
          <a:lstStyle/>
          <a:p>
            <a:r>
              <a:rPr lang="en-US" dirty="0" smtClean="0"/>
              <a:t>SAP Layer History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81585"/>
            <a:ext cx="8839200" cy="5776415"/>
          </a:xfrm>
        </p:spPr>
        <p:txBody>
          <a:bodyPr>
            <a:normAutofit fontScale="70000" lnSpcReduction="20000"/>
          </a:bodyPr>
          <a:lstStyle/>
          <a:p>
            <a:pPr fontAlgn="base"/>
            <a:r>
              <a:rPr lang="en-US" b="1" i="1" dirty="0">
                <a:solidFill>
                  <a:schemeClr val="tx2">
                    <a:lumMod val="75000"/>
                  </a:schemeClr>
                </a:solidFill>
              </a:rPr>
              <a:t>SAP R/1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:–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 The first version of SAP software was launched in and around 1972 known as the “R/1 system. R” stands for real-time data processing. it is one tier architecture in which three layers Presentation, Application, and Database are installed in one system/server</a:t>
            </a:r>
          </a:p>
          <a:p>
            <a:pPr marL="0" indent="0" fontAlgn="base">
              <a:buNone/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  (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One – Presentation + Application + Database)</a:t>
            </a:r>
          </a:p>
          <a:p>
            <a:pPr fontAlgn="base"/>
            <a:r>
              <a:rPr lang="en-US" b="1" i="1" dirty="0">
                <a:solidFill>
                  <a:schemeClr val="tx2">
                    <a:lumMod val="75000"/>
                  </a:schemeClr>
                </a:solidFill>
              </a:rPr>
              <a:t>SAP R/2: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–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 In 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1980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second version of SAP R/2 was released. with IBM’s database and a dialogue-oriented business application. SAP R/2 to handle different languages and currencies. R/2 is 2 tier architecture in which three layers of Presentation, Application, and Database are installed in two separate servers.</a:t>
            </a:r>
          </a:p>
          <a:p>
            <a:pPr marL="0" indent="0" fontAlgn="base">
              <a:buNone/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   (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Server one – Presentation, Server two – Application + Database</a:t>
            </a:r>
          </a:p>
          <a:p>
            <a:pPr fontAlgn="base"/>
            <a:r>
              <a:rPr lang="en-US" b="1" i="1" dirty="0">
                <a:solidFill>
                  <a:schemeClr val="tx2">
                    <a:lumMod val="75000"/>
                  </a:schemeClr>
                </a:solidFill>
              </a:rPr>
              <a:t>SAP R/3: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–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 SAP upgraded R/2 to R/3. SAP R/3 is the client/server version of the software and it is 3 tier architecture in which three layers of Presentation, Application, and database are installed in three servers/systems.</a:t>
            </a:r>
          </a:p>
          <a:p>
            <a:pPr marL="0" indent="0" fontAlgn="base">
              <a:buNone/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  Server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one – Presentation, Server Two – Application, server Three – Database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507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1001"/>
            <a:ext cx="7772400" cy="1600199"/>
          </a:xfrm>
        </p:spPr>
        <p:txBody>
          <a:bodyPr/>
          <a:lstStyle/>
          <a:p>
            <a:r>
              <a:rPr lang="en-US" dirty="0" smtClean="0"/>
              <a:t>SAP System:</a:t>
            </a:r>
            <a:br>
              <a:rPr lang="en-US" dirty="0" smtClean="0"/>
            </a:br>
            <a:r>
              <a:rPr lang="en-US" dirty="0" smtClean="0"/>
              <a:t>What is R/3 layer Architecture?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2743200"/>
            <a:ext cx="8839200" cy="2895600"/>
          </a:xfrm>
        </p:spPr>
        <p:txBody>
          <a:bodyPr/>
          <a:lstStyle/>
          <a:p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Andalus" pitchFamily="18" charset="-78"/>
                <a:cs typeface="Andalus" pitchFamily="18" charset="-78"/>
              </a:rPr>
              <a:t>SAP R/3 is one of the main product of SAP, Where R stands for Real time and the 3 related to three tier application architecture.</a:t>
            </a:r>
            <a:endParaRPr lang="en-US" dirty="0">
              <a:solidFill>
                <a:schemeClr val="tx2">
                  <a:lumMod val="75000"/>
                </a:schemeClr>
              </a:solidFill>
              <a:latin typeface="Andalus" pitchFamily="18" charset="-78"/>
              <a:cs typeface="Andalus" pitchFamily="18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1"/>
            <a:ext cx="7772400" cy="1676399"/>
          </a:xfrm>
        </p:spPr>
        <p:txBody>
          <a:bodyPr/>
          <a:lstStyle/>
          <a:p>
            <a:r>
              <a:rPr lang="en-US" dirty="0" smtClean="0"/>
              <a:t>Three Layers are: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743200"/>
            <a:ext cx="6400800" cy="2895600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ndalus" pitchFamily="18" charset="-78"/>
                <a:cs typeface="Andalus" pitchFamily="18" charset="-78"/>
              </a:rPr>
              <a:t>Presentation Layer</a:t>
            </a:r>
          </a:p>
          <a:p>
            <a:pPr marL="514350" indent="-514350">
              <a:buAutoNum type="arabicPeriod"/>
            </a:pPr>
            <a:r>
              <a:rPr 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ndalus" pitchFamily="18" charset="-78"/>
                <a:cs typeface="Andalus" pitchFamily="18" charset="-78"/>
              </a:rPr>
              <a:t>Application Layer</a:t>
            </a:r>
          </a:p>
          <a:p>
            <a:pPr marL="514350" indent="-514350">
              <a:buAutoNum type="arabicPeriod"/>
            </a:pPr>
            <a:r>
              <a:rPr 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ndalus" pitchFamily="18" charset="-78"/>
                <a:cs typeface="Andalus" pitchFamily="18" charset="-78"/>
              </a:rPr>
              <a:t>Database Layer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latin typeface="Andalus" pitchFamily="18" charset="-78"/>
              <a:cs typeface="Andalus" pitchFamily="18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"/>
            <a:ext cx="89154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37" name="Rectangle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Transport Requests in Repository</a:t>
            </a:r>
          </a:p>
        </p:txBody>
      </p:sp>
      <p:sp>
        <p:nvSpPr>
          <p:cNvPr id="34842" name="Rectangle 28"/>
          <p:cNvSpPr>
            <a:spLocks noChangeArrowheads="1"/>
          </p:cNvSpPr>
          <p:nvPr/>
        </p:nvSpPr>
        <p:spPr bwMode="auto">
          <a:xfrm rot="16200000">
            <a:off x="7672150" y="4083716"/>
            <a:ext cx="1656605" cy="240980"/>
          </a:xfrm>
          <a:prstGeom prst="rect">
            <a:avLst/>
          </a:prstGeom>
          <a:noFill/>
          <a:ln w="19050" algn="ctr">
            <a:noFill/>
            <a:miter lim="800000"/>
            <a:headEnd/>
            <a:tailEnd type="none" w="lg" len="lg"/>
          </a:ln>
        </p:spPr>
        <p:txBody>
          <a:bodyPr wrap="none" anchor="ctr"/>
          <a:lstStyle/>
          <a:p>
            <a:r>
              <a:rPr lang="de-DE" sz="1200" dirty="0">
                <a:latin typeface="Arial Narrow" pitchFamily="34" charset="0"/>
              </a:rPr>
              <a:t>Source: </a:t>
            </a:r>
            <a:r>
              <a:rPr lang="de-DE" sz="1200" dirty="0" err="1" smtClean="0">
                <a:latin typeface="Arial Narrow" pitchFamily="34" charset="0"/>
              </a:rPr>
              <a:t>Author‘s</a:t>
            </a:r>
            <a:r>
              <a:rPr lang="de-DE" sz="1200" dirty="0" smtClean="0">
                <a:latin typeface="Arial Narrow" pitchFamily="34" charset="0"/>
              </a:rPr>
              <a:t> design</a:t>
            </a:r>
          </a:p>
        </p:txBody>
      </p:sp>
      <p:grpSp>
        <p:nvGrpSpPr>
          <p:cNvPr id="2" name="Gruppieren 1"/>
          <p:cNvGrpSpPr/>
          <p:nvPr/>
        </p:nvGrpSpPr>
        <p:grpSpPr>
          <a:xfrm>
            <a:off x="683568" y="1412776"/>
            <a:ext cx="7633220" cy="4832243"/>
            <a:chOff x="611188" y="1189045"/>
            <a:chExt cx="7921625" cy="5168913"/>
          </a:xfrm>
        </p:grpSpPr>
        <p:sp>
          <p:nvSpPr>
            <p:cNvPr id="34817" name="Rectangle 2"/>
            <p:cNvSpPr>
              <a:spLocks noChangeArrowheads="1"/>
            </p:cNvSpPr>
            <p:nvPr/>
          </p:nvSpPr>
          <p:spPr bwMode="gray">
            <a:xfrm>
              <a:off x="611188" y="1189045"/>
              <a:ext cx="3889375" cy="3382963"/>
            </a:xfrm>
            <a:prstGeom prst="rect">
              <a:avLst/>
            </a:prstGeom>
            <a:solidFill>
              <a:srgbClr val="CCCCCC"/>
            </a:solidFill>
            <a:ln w="1905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endParaRPr lang="de-DE"/>
            </a:p>
          </p:txBody>
        </p:sp>
        <p:sp>
          <p:nvSpPr>
            <p:cNvPr id="34818" name="Rectangle 3"/>
            <p:cNvSpPr>
              <a:spLocks noChangeArrowheads="1"/>
            </p:cNvSpPr>
            <p:nvPr/>
          </p:nvSpPr>
          <p:spPr bwMode="gray">
            <a:xfrm>
              <a:off x="611188" y="4572008"/>
              <a:ext cx="7921625" cy="431800"/>
            </a:xfrm>
            <a:prstGeom prst="rect">
              <a:avLst/>
            </a:prstGeom>
            <a:solidFill>
              <a:srgbClr val="816E2C"/>
            </a:solidFill>
            <a:ln w="1905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>
                <a:buClr>
                  <a:srgbClr val="44697D"/>
                </a:buClr>
                <a:buSzPct val="80000"/>
                <a:buFont typeface="Wingdings" pitchFamily="2" charset="2"/>
                <a:buNone/>
              </a:pPr>
              <a:r>
                <a:rPr lang="de-DE">
                  <a:solidFill>
                    <a:schemeClr val="bg1"/>
                  </a:solidFill>
                  <a:ea typeface="Arial Unicode MS" pitchFamily="34" charset="-128"/>
                  <a:cs typeface="Arial Unicode MS" pitchFamily="34" charset="-128"/>
                </a:rPr>
                <a:t>Client independent customizing</a:t>
              </a:r>
            </a:p>
          </p:txBody>
        </p:sp>
        <p:sp>
          <p:nvSpPr>
            <p:cNvPr id="34819" name="Rectangle 4"/>
            <p:cNvSpPr>
              <a:spLocks noChangeArrowheads="1"/>
            </p:cNvSpPr>
            <p:nvPr/>
          </p:nvSpPr>
          <p:spPr bwMode="gray">
            <a:xfrm>
              <a:off x="611188" y="4987945"/>
              <a:ext cx="719137" cy="1368425"/>
            </a:xfrm>
            <a:prstGeom prst="rect">
              <a:avLst/>
            </a:prstGeom>
            <a:solidFill>
              <a:srgbClr val="774A39"/>
            </a:solidFill>
            <a:ln w="1905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b"/>
            <a:lstStyle/>
            <a:p>
              <a:pPr algn="ctr">
                <a:buClr>
                  <a:srgbClr val="44697D"/>
                </a:buClr>
                <a:buSzPct val="80000"/>
                <a:buFont typeface="Wingdings" pitchFamily="2" charset="2"/>
                <a:buNone/>
              </a:pPr>
              <a:r>
                <a:rPr lang="de-DE" sz="2000">
                  <a:solidFill>
                    <a:schemeClr val="bg1"/>
                  </a:solidFill>
                  <a:ea typeface="Arial Unicode MS" pitchFamily="34" charset="-128"/>
                  <a:cs typeface="Arial Unicode MS" pitchFamily="34" charset="-128"/>
                </a:rPr>
                <a:t>FI</a:t>
              </a:r>
            </a:p>
          </p:txBody>
        </p:sp>
        <p:sp>
          <p:nvSpPr>
            <p:cNvPr id="34820" name="Rectangle 5"/>
            <p:cNvSpPr>
              <a:spLocks noChangeArrowheads="1"/>
            </p:cNvSpPr>
            <p:nvPr/>
          </p:nvSpPr>
          <p:spPr bwMode="gray">
            <a:xfrm>
              <a:off x="1692275" y="1620845"/>
              <a:ext cx="1511300" cy="1584325"/>
            </a:xfrm>
            <a:prstGeom prst="rect">
              <a:avLst/>
            </a:prstGeom>
            <a:solidFill>
              <a:srgbClr val="F0AB00"/>
            </a:solidFill>
            <a:ln w="19050" algn="ctr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>
                <a:buClr>
                  <a:srgbClr val="44697D"/>
                </a:buClr>
                <a:buSzPct val="80000"/>
                <a:buFont typeface="Wingdings" pitchFamily="2" charset="2"/>
                <a:buNone/>
              </a:pPr>
              <a:r>
                <a:rPr lang="de-DE" sz="2000">
                  <a:solidFill>
                    <a:srgbClr val="FFFFFF"/>
                  </a:solidFill>
                  <a:ea typeface="Arial Unicode MS" pitchFamily="34" charset="-128"/>
                  <a:cs typeface="Arial Unicode MS" pitchFamily="34" charset="-128"/>
                </a:rPr>
                <a:t>Application </a:t>
              </a:r>
            </a:p>
            <a:p>
              <a:pPr algn="ctr">
                <a:buClr>
                  <a:srgbClr val="44697D"/>
                </a:buClr>
                <a:buSzPct val="80000"/>
                <a:buFont typeface="Wingdings" pitchFamily="2" charset="2"/>
                <a:buNone/>
              </a:pPr>
              <a:r>
                <a:rPr lang="de-DE" sz="2000">
                  <a:solidFill>
                    <a:srgbClr val="FFFFFF"/>
                  </a:solidFill>
                  <a:ea typeface="Arial Unicode MS" pitchFamily="34" charset="-128"/>
                  <a:cs typeface="Arial Unicode MS" pitchFamily="34" charset="-128"/>
                </a:rPr>
                <a:t>data</a:t>
              </a:r>
            </a:p>
          </p:txBody>
        </p:sp>
        <p:sp>
          <p:nvSpPr>
            <p:cNvPr id="34821" name="Rectangle 6"/>
            <p:cNvSpPr>
              <a:spLocks noChangeArrowheads="1"/>
            </p:cNvSpPr>
            <p:nvPr/>
          </p:nvSpPr>
          <p:spPr bwMode="gray">
            <a:xfrm>
              <a:off x="3276600" y="1620845"/>
              <a:ext cx="1081088" cy="2808288"/>
            </a:xfrm>
            <a:prstGeom prst="rect">
              <a:avLst/>
            </a:prstGeom>
            <a:solidFill>
              <a:srgbClr val="BBC8AC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/>
              <a:r>
                <a:rPr lang="de-DE" sz="2000">
                  <a:latin typeface="Arial Narrow" pitchFamily="34" charset="0"/>
                </a:rPr>
                <a:t>User</a:t>
              </a:r>
            </a:p>
            <a:p>
              <a:pPr algn="ctr"/>
              <a:r>
                <a:rPr lang="de-DE" sz="2000">
                  <a:latin typeface="Arial Narrow" pitchFamily="34" charset="0"/>
                </a:rPr>
                <a:t>accounts</a:t>
              </a:r>
            </a:p>
          </p:txBody>
        </p:sp>
        <p:sp>
          <p:nvSpPr>
            <p:cNvPr id="34822" name="Text Box 7"/>
            <p:cNvSpPr txBox="1">
              <a:spLocks noChangeArrowheads="1"/>
            </p:cNvSpPr>
            <p:nvPr/>
          </p:nvSpPr>
          <p:spPr bwMode="auto">
            <a:xfrm>
              <a:off x="828675" y="1189045"/>
              <a:ext cx="2303463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de-DE" sz="2400">
                  <a:latin typeface="Arial Narrow" pitchFamily="34" charset="0"/>
                </a:rPr>
                <a:t>Client 900</a:t>
              </a:r>
            </a:p>
          </p:txBody>
        </p:sp>
        <p:sp>
          <p:nvSpPr>
            <p:cNvPr id="34823" name="Freeform 8"/>
            <p:cNvSpPr>
              <a:spLocks/>
            </p:cNvSpPr>
            <p:nvPr/>
          </p:nvSpPr>
          <p:spPr bwMode="gray">
            <a:xfrm>
              <a:off x="755650" y="1620845"/>
              <a:ext cx="2447925" cy="2808288"/>
            </a:xfrm>
            <a:custGeom>
              <a:avLst/>
              <a:gdLst>
                <a:gd name="T0" fmla="*/ 0 w 1633"/>
                <a:gd name="T1" fmla="*/ 0 h 1769"/>
                <a:gd name="T2" fmla="*/ 589 w 1633"/>
                <a:gd name="T3" fmla="*/ 0 h 1769"/>
                <a:gd name="T4" fmla="*/ 589 w 1633"/>
                <a:gd name="T5" fmla="*/ 1088 h 1769"/>
                <a:gd name="T6" fmla="*/ 1633 w 1633"/>
                <a:gd name="T7" fmla="*/ 1088 h 1769"/>
                <a:gd name="T8" fmla="*/ 1633 w 1633"/>
                <a:gd name="T9" fmla="*/ 1769 h 1769"/>
                <a:gd name="T10" fmla="*/ 0 w 1633"/>
                <a:gd name="T11" fmla="*/ 1769 h 1769"/>
                <a:gd name="T12" fmla="*/ 0 w 1633"/>
                <a:gd name="T13" fmla="*/ 0 h 17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33"/>
                <a:gd name="T22" fmla="*/ 0 h 1769"/>
                <a:gd name="T23" fmla="*/ 1633 w 1633"/>
                <a:gd name="T24" fmla="*/ 1769 h 176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33" h="1769">
                  <a:moveTo>
                    <a:pt x="0" y="0"/>
                  </a:moveTo>
                  <a:lnTo>
                    <a:pt x="589" y="0"/>
                  </a:lnTo>
                  <a:lnTo>
                    <a:pt x="589" y="1088"/>
                  </a:lnTo>
                  <a:lnTo>
                    <a:pt x="1633" y="1088"/>
                  </a:lnTo>
                  <a:lnTo>
                    <a:pt x="1633" y="1769"/>
                  </a:lnTo>
                  <a:lnTo>
                    <a:pt x="0" y="17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4357B"/>
            </a:solidFill>
            <a:ln w="19050">
              <a:solidFill>
                <a:srgbClr val="FFFFFF"/>
              </a:solidFill>
              <a:round/>
              <a:headEnd/>
              <a:tailEnd type="none" w="lg" len="lg"/>
            </a:ln>
          </p:spPr>
          <p:txBody>
            <a:bodyPr wrap="none" lIns="0" tIns="0" rIns="0" bIns="0" anchor="ctr"/>
            <a:lstStyle/>
            <a:p>
              <a:endParaRPr lang="de-DE"/>
            </a:p>
          </p:txBody>
        </p:sp>
        <p:sp>
          <p:nvSpPr>
            <p:cNvPr id="34824" name="Rectangle 9"/>
            <p:cNvSpPr>
              <a:spLocks noChangeArrowheads="1"/>
            </p:cNvSpPr>
            <p:nvPr/>
          </p:nvSpPr>
          <p:spPr bwMode="auto">
            <a:xfrm>
              <a:off x="752475" y="3276608"/>
              <a:ext cx="2595563" cy="1123950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de-DE" sz="2000">
                  <a:solidFill>
                    <a:schemeClr val="bg1"/>
                  </a:solidFill>
                  <a:latin typeface="Arial Narrow" pitchFamily="34" charset="0"/>
                </a:rPr>
                <a:t>Client dependent</a:t>
              </a:r>
            </a:p>
            <a:p>
              <a:pPr algn="ctr"/>
              <a:r>
                <a:rPr lang="de-DE" sz="2000">
                  <a:solidFill>
                    <a:schemeClr val="bg1"/>
                  </a:solidFill>
                  <a:latin typeface="Arial Narrow" pitchFamily="34" charset="0"/>
                </a:rPr>
                <a:t> Customizing</a:t>
              </a:r>
            </a:p>
          </p:txBody>
        </p:sp>
        <p:sp>
          <p:nvSpPr>
            <p:cNvPr id="34825" name="Rectangle 10"/>
            <p:cNvSpPr>
              <a:spLocks noChangeArrowheads="1"/>
            </p:cNvSpPr>
            <p:nvPr/>
          </p:nvSpPr>
          <p:spPr bwMode="gray">
            <a:xfrm>
              <a:off x="4643438" y="1189045"/>
              <a:ext cx="3889375" cy="3382963"/>
            </a:xfrm>
            <a:prstGeom prst="rect">
              <a:avLst/>
            </a:prstGeom>
            <a:solidFill>
              <a:srgbClr val="CCCCCC"/>
            </a:solidFill>
            <a:ln w="1905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endParaRPr lang="de-DE"/>
            </a:p>
          </p:txBody>
        </p:sp>
        <p:sp>
          <p:nvSpPr>
            <p:cNvPr id="34826" name="Text Box 11"/>
            <p:cNvSpPr txBox="1">
              <a:spLocks noChangeArrowheads="1"/>
            </p:cNvSpPr>
            <p:nvPr/>
          </p:nvSpPr>
          <p:spPr bwMode="auto">
            <a:xfrm>
              <a:off x="4933950" y="1189045"/>
              <a:ext cx="2303463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de-DE" sz="2400">
                  <a:latin typeface="Arial Narrow" pitchFamily="34" charset="0"/>
                </a:rPr>
                <a:t>Client 901</a:t>
              </a:r>
            </a:p>
          </p:txBody>
        </p:sp>
        <p:sp>
          <p:nvSpPr>
            <p:cNvPr id="34827" name="Rectangle 12"/>
            <p:cNvSpPr>
              <a:spLocks noChangeArrowheads="1"/>
            </p:cNvSpPr>
            <p:nvPr/>
          </p:nvSpPr>
          <p:spPr bwMode="gray">
            <a:xfrm>
              <a:off x="1331913" y="4989533"/>
              <a:ext cx="719137" cy="1368425"/>
            </a:xfrm>
            <a:prstGeom prst="rect">
              <a:avLst/>
            </a:prstGeom>
            <a:solidFill>
              <a:srgbClr val="774A39"/>
            </a:solidFill>
            <a:ln w="1905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b"/>
            <a:lstStyle/>
            <a:p>
              <a:pPr algn="ctr">
                <a:buClr>
                  <a:srgbClr val="44697D"/>
                </a:buClr>
                <a:buSzPct val="80000"/>
                <a:buFont typeface="Wingdings" pitchFamily="2" charset="2"/>
                <a:buNone/>
              </a:pPr>
              <a:r>
                <a:rPr lang="de-DE" sz="2000">
                  <a:solidFill>
                    <a:schemeClr val="bg1"/>
                  </a:solidFill>
                  <a:ea typeface="Arial Unicode MS" pitchFamily="34" charset="-128"/>
                  <a:cs typeface="Arial Unicode MS" pitchFamily="34" charset="-128"/>
                </a:rPr>
                <a:t>CO</a:t>
              </a:r>
            </a:p>
          </p:txBody>
        </p:sp>
        <p:sp>
          <p:nvSpPr>
            <p:cNvPr id="34828" name="Rectangle 13"/>
            <p:cNvSpPr>
              <a:spLocks noChangeArrowheads="1"/>
            </p:cNvSpPr>
            <p:nvPr/>
          </p:nvSpPr>
          <p:spPr bwMode="gray">
            <a:xfrm>
              <a:off x="2771775" y="4989533"/>
              <a:ext cx="719138" cy="1368425"/>
            </a:xfrm>
            <a:prstGeom prst="rect">
              <a:avLst/>
            </a:prstGeom>
            <a:solidFill>
              <a:srgbClr val="774A39"/>
            </a:solidFill>
            <a:ln w="1905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b"/>
            <a:lstStyle/>
            <a:p>
              <a:pPr algn="ctr">
                <a:buClr>
                  <a:srgbClr val="44697D"/>
                </a:buClr>
                <a:buSzPct val="80000"/>
                <a:buFont typeface="Wingdings" pitchFamily="2" charset="2"/>
                <a:buNone/>
              </a:pPr>
              <a:r>
                <a:rPr lang="de-DE" sz="2000">
                  <a:solidFill>
                    <a:schemeClr val="bg1"/>
                  </a:solidFill>
                  <a:ea typeface="Arial Unicode MS" pitchFamily="34" charset="-128"/>
                  <a:cs typeface="Arial Unicode MS" pitchFamily="34" charset="-128"/>
                </a:rPr>
                <a:t>TR</a:t>
              </a:r>
            </a:p>
          </p:txBody>
        </p:sp>
        <p:sp>
          <p:nvSpPr>
            <p:cNvPr id="34829" name="Rectangle 14"/>
            <p:cNvSpPr>
              <a:spLocks noChangeArrowheads="1"/>
            </p:cNvSpPr>
            <p:nvPr/>
          </p:nvSpPr>
          <p:spPr bwMode="gray">
            <a:xfrm>
              <a:off x="2051050" y="4989533"/>
              <a:ext cx="719138" cy="1368425"/>
            </a:xfrm>
            <a:prstGeom prst="rect">
              <a:avLst/>
            </a:prstGeom>
            <a:solidFill>
              <a:srgbClr val="774A39"/>
            </a:solidFill>
            <a:ln w="1905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b"/>
            <a:lstStyle/>
            <a:p>
              <a:pPr algn="ctr">
                <a:buClr>
                  <a:srgbClr val="44697D"/>
                </a:buClr>
                <a:buSzPct val="80000"/>
                <a:buFont typeface="Wingdings" pitchFamily="2" charset="2"/>
                <a:buNone/>
              </a:pPr>
              <a:r>
                <a:rPr lang="de-DE" sz="2000">
                  <a:solidFill>
                    <a:schemeClr val="bg1"/>
                  </a:solidFill>
                  <a:ea typeface="Arial Unicode MS" pitchFamily="34" charset="-128"/>
                  <a:cs typeface="Arial Unicode MS" pitchFamily="34" charset="-128"/>
                </a:rPr>
                <a:t>PP</a:t>
              </a:r>
            </a:p>
          </p:txBody>
        </p:sp>
        <p:sp>
          <p:nvSpPr>
            <p:cNvPr id="34830" name="Rectangle 15"/>
            <p:cNvSpPr>
              <a:spLocks noChangeArrowheads="1"/>
            </p:cNvSpPr>
            <p:nvPr/>
          </p:nvSpPr>
          <p:spPr bwMode="gray">
            <a:xfrm>
              <a:off x="3492500" y="4987945"/>
              <a:ext cx="719138" cy="1368425"/>
            </a:xfrm>
            <a:prstGeom prst="rect">
              <a:avLst/>
            </a:prstGeom>
            <a:solidFill>
              <a:srgbClr val="774A39"/>
            </a:solidFill>
            <a:ln w="1905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b"/>
            <a:lstStyle/>
            <a:p>
              <a:pPr algn="ctr">
                <a:buClr>
                  <a:srgbClr val="44697D"/>
                </a:buClr>
                <a:buSzPct val="80000"/>
                <a:buFont typeface="Wingdings" pitchFamily="2" charset="2"/>
                <a:buNone/>
              </a:pPr>
              <a:r>
                <a:rPr lang="de-DE" sz="2000">
                  <a:solidFill>
                    <a:schemeClr val="bg1"/>
                  </a:solidFill>
                  <a:ea typeface="Arial Unicode MS" pitchFamily="34" charset="-128"/>
                  <a:cs typeface="Arial Unicode MS" pitchFamily="34" charset="-128"/>
                </a:rPr>
                <a:t>PS</a:t>
              </a:r>
            </a:p>
          </p:txBody>
        </p:sp>
        <p:sp>
          <p:nvSpPr>
            <p:cNvPr id="34831" name="Rectangle 16"/>
            <p:cNvSpPr>
              <a:spLocks noChangeArrowheads="1"/>
            </p:cNvSpPr>
            <p:nvPr/>
          </p:nvSpPr>
          <p:spPr bwMode="gray">
            <a:xfrm>
              <a:off x="4932363" y="4989533"/>
              <a:ext cx="719137" cy="1368425"/>
            </a:xfrm>
            <a:prstGeom prst="rect">
              <a:avLst/>
            </a:prstGeom>
            <a:solidFill>
              <a:srgbClr val="774A39"/>
            </a:solidFill>
            <a:ln w="1905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b"/>
            <a:lstStyle/>
            <a:p>
              <a:pPr algn="ctr">
                <a:buClr>
                  <a:srgbClr val="44697D"/>
                </a:buClr>
                <a:buSzPct val="80000"/>
                <a:buFont typeface="Wingdings" pitchFamily="2" charset="2"/>
                <a:buNone/>
              </a:pPr>
              <a:r>
                <a:rPr lang="de-DE" sz="2000">
                  <a:solidFill>
                    <a:schemeClr val="bg1"/>
                  </a:solidFill>
                  <a:ea typeface="Arial Unicode MS" pitchFamily="34" charset="-128"/>
                  <a:cs typeface="Arial Unicode MS" pitchFamily="34" charset="-128"/>
                </a:rPr>
                <a:t>BC</a:t>
              </a:r>
            </a:p>
          </p:txBody>
        </p:sp>
        <p:sp>
          <p:nvSpPr>
            <p:cNvPr id="34832" name="Rectangle 17"/>
            <p:cNvSpPr>
              <a:spLocks noChangeArrowheads="1"/>
            </p:cNvSpPr>
            <p:nvPr/>
          </p:nvSpPr>
          <p:spPr bwMode="gray">
            <a:xfrm>
              <a:off x="6372225" y="4989533"/>
              <a:ext cx="719138" cy="1368425"/>
            </a:xfrm>
            <a:prstGeom prst="rect">
              <a:avLst/>
            </a:prstGeom>
            <a:solidFill>
              <a:srgbClr val="774A39"/>
            </a:solidFill>
            <a:ln w="1905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b"/>
            <a:lstStyle/>
            <a:p>
              <a:pPr algn="ctr">
                <a:buClr>
                  <a:srgbClr val="44697D"/>
                </a:buClr>
                <a:buSzPct val="80000"/>
                <a:buFont typeface="Wingdings" pitchFamily="2" charset="2"/>
                <a:buNone/>
              </a:pPr>
              <a:r>
                <a:rPr lang="de-DE" sz="2000">
                  <a:solidFill>
                    <a:schemeClr val="bg1"/>
                  </a:solidFill>
                  <a:ea typeface="Arial Unicode MS" pitchFamily="34" charset="-128"/>
                  <a:cs typeface="Arial Unicode MS" pitchFamily="34" charset="-128"/>
                </a:rPr>
                <a:t>PA</a:t>
              </a:r>
            </a:p>
          </p:txBody>
        </p:sp>
        <p:sp>
          <p:nvSpPr>
            <p:cNvPr id="34833" name="Rectangle 18"/>
            <p:cNvSpPr>
              <a:spLocks noChangeArrowheads="1"/>
            </p:cNvSpPr>
            <p:nvPr/>
          </p:nvSpPr>
          <p:spPr bwMode="gray">
            <a:xfrm>
              <a:off x="5651500" y="4989533"/>
              <a:ext cx="719138" cy="1368425"/>
            </a:xfrm>
            <a:prstGeom prst="rect">
              <a:avLst/>
            </a:prstGeom>
            <a:solidFill>
              <a:srgbClr val="774A39"/>
            </a:solidFill>
            <a:ln w="1905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b"/>
            <a:lstStyle/>
            <a:p>
              <a:pPr algn="ctr">
                <a:buClr>
                  <a:srgbClr val="44697D"/>
                </a:buClr>
                <a:buSzPct val="80000"/>
                <a:buFont typeface="Wingdings" pitchFamily="2" charset="2"/>
                <a:buNone/>
              </a:pPr>
              <a:r>
                <a:rPr lang="de-DE" sz="2000">
                  <a:solidFill>
                    <a:schemeClr val="bg1"/>
                  </a:solidFill>
                  <a:ea typeface="Arial Unicode MS" pitchFamily="34" charset="-128"/>
                  <a:cs typeface="Arial Unicode MS" pitchFamily="34" charset="-128"/>
                </a:rPr>
                <a:t>KM</a:t>
              </a:r>
            </a:p>
          </p:txBody>
        </p:sp>
        <p:sp>
          <p:nvSpPr>
            <p:cNvPr id="34834" name="Rectangle 19"/>
            <p:cNvSpPr>
              <a:spLocks noChangeArrowheads="1"/>
            </p:cNvSpPr>
            <p:nvPr/>
          </p:nvSpPr>
          <p:spPr bwMode="gray">
            <a:xfrm>
              <a:off x="7092950" y="4989533"/>
              <a:ext cx="719138" cy="1368425"/>
            </a:xfrm>
            <a:prstGeom prst="rect">
              <a:avLst/>
            </a:prstGeom>
            <a:solidFill>
              <a:srgbClr val="774A39"/>
            </a:solidFill>
            <a:ln w="1905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b"/>
            <a:lstStyle/>
            <a:p>
              <a:pPr algn="ctr">
                <a:buClr>
                  <a:srgbClr val="44697D"/>
                </a:buClr>
                <a:buSzPct val="80000"/>
                <a:buFont typeface="Wingdings" pitchFamily="2" charset="2"/>
                <a:buNone/>
              </a:pPr>
              <a:r>
                <a:rPr lang="de-DE" sz="2000">
                  <a:solidFill>
                    <a:schemeClr val="bg1"/>
                  </a:solidFill>
                  <a:ea typeface="Arial Unicode MS" pitchFamily="34" charset="-128"/>
                  <a:cs typeface="Arial Unicode MS" pitchFamily="34" charset="-128"/>
                </a:rPr>
                <a:t>FS</a:t>
              </a:r>
            </a:p>
          </p:txBody>
        </p:sp>
        <p:sp>
          <p:nvSpPr>
            <p:cNvPr id="34835" name="Rectangle 20"/>
            <p:cNvSpPr>
              <a:spLocks noChangeArrowheads="1"/>
            </p:cNvSpPr>
            <p:nvPr/>
          </p:nvSpPr>
          <p:spPr bwMode="gray">
            <a:xfrm>
              <a:off x="4211638" y="4987945"/>
              <a:ext cx="719137" cy="1368425"/>
            </a:xfrm>
            <a:prstGeom prst="rect">
              <a:avLst/>
            </a:prstGeom>
            <a:solidFill>
              <a:srgbClr val="774A39"/>
            </a:solidFill>
            <a:ln w="1905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b"/>
            <a:lstStyle/>
            <a:p>
              <a:pPr algn="ctr">
                <a:buClr>
                  <a:srgbClr val="44697D"/>
                </a:buClr>
                <a:buSzPct val="80000"/>
                <a:buFont typeface="Wingdings" pitchFamily="2" charset="2"/>
                <a:buNone/>
              </a:pPr>
              <a:r>
                <a:rPr lang="de-DE" sz="2000">
                  <a:solidFill>
                    <a:schemeClr val="bg1"/>
                  </a:solidFill>
                  <a:ea typeface="Arial Unicode MS" pitchFamily="34" charset="-128"/>
                  <a:cs typeface="Arial Unicode MS" pitchFamily="34" charset="-128"/>
                </a:rPr>
                <a:t>HR</a:t>
              </a:r>
            </a:p>
          </p:txBody>
        </p:sp>
        <p:sp>
          <p:nvSpPr>
            <p:cNvPr id="34836" name="Rectangle 21"/>
            <p:cNvSpPr>
              <a:spLocks noChangeArrowheads="1"/>
            </p:cNvSpPr>
            <p:nvPr/>
          </p:nvSpPr>
          <p:spPr bwMode="gray">
            <a:xfrm>
              <a:off x="7812088" y="4989533"/>
              <a:ext cx="719137" cy="1368425"/>
            </a:xfrm>
            <a:prstGeom prst="rect">
              <a:avLst/>
            </a:prstGeom>
            <a:solidFill>
              <a:srgbClr val="774A39"/>
            </a:solidFill>
            <a:ln w="1905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b"/>
            <a:lstStyle/>
            <a:p>
              <a:pPr algn="ctr">
                <a:buClr>
                  <a:srgbClr val="44697D"/>
                </a:buClr>
                <a:buSzPct val="80000"/>
                <a:buFont typeface="Wingdings" pitchFamily="2" charset="2"/>
                <a:buNone/>
              </a:pPr>
              <a:r>
                <a:rPr lang="de-DE" sz="2000">
                  <a:solidFill>
                    <a:schemeClr val="bg1"/>
                  </a:solidFill>
                  <a:ea typeface="Arial Unicode MS" pitchFamily="34" charset="-128"/>
                  <a:cs typeface="Arial Unicode MS" pitchFamily="34" charset="-128"/>
                </a:rPr>
                <a:t>…</a:t>
              </a:r>
            </a:p>
          </p:txBody>
        </p:sp>
        <p:sp>
          <p:nvSpPr>
            <p:cNvPr id="34838" name="Rectangle 24"/>
            <p:cNvSpPr>
              <a:spLocks noChangeArrowheads="1"/>
            </p:cNvSpPr>
            <p:nvPr/>
          </p:nvSpPr>
          <p:spPr bwMode="gray">
            <a:xfrm>
              <a:off x="5722938" y="1620845"/>
              <a:ext cx="1511300" cy="1584325"/>
            </a:xfrm>
            <a:prstGeom prst="rect">
              <a:avLst/>
            </a:prstGeom>
            <a:solidFill>
              <a:srgbClr val="F0AB00"/>
            </a:solidFill>
            <a:ln w="19050" algn="ctr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>
                <a:buClr>
                  <a:srgbClr val="44697D"/>
                </a:buClr>
                <a:buSzPct val="80000"/>
                <a:buFont typeface="Wingdings" pitchFamily="2" charset="2"/>
                <a:buNone/>
              </a:pPr>
              <a:r>
                <a:rPr lang="de-DE" sz="2000">
                  <a:solidFill>
                    <a:srgbClr val="FFFFFF"/>
                  </a:solidFill>
                  <a:ea typeface="Arial Unicode MS" pitchFamily="34" charset="-128"/>
                  <a:cs typeface="Arial Unicode MS" pitchFamily="34" charset="-128"/>
                </a:rPr>
                <a:t>Application </a:t>
              </a:r>
            </a:p>
            <a:p>
              <a:pPr algn="ctr">
                <a:buClr>
                  <a:srgbClr val="44697D"/>
                </a:buClr>
                <a:buSzPct val="80000"/>
                <a:buFont typeface="Wingdings" pitchFamily="2" charset="2"/>
                <a:buNone/>
              </a:pPr>
              <a:r>
                <a:rPr lang="de-DE" sz="2000">
                  <a:solidFill>
                    <a:srgbClr val="FFFFFF"/>
                  </a:solidFill>
                  <a:ea typeface="Arial Unicode MS" pitchFamily="34" charset="-128"/>
                  <a:cs typeface="Arial Unicode MS" pitchFamily="34" charset="-128"/>
                </a:rPr>
                <a:t>data</a:t>
              </a:r>
            </a:p>
          </p:txBody>
        </p:sp>
        <p:sp>
          <p:nvSpPr>
            <p:cNvPr id="34839" name="Rectangle 25"/>
            <p:cNvSpPr>
              <a:spLocks noChangeArrowheads="1"/>
            </p:cNvSpPr>
            <p:nvPr/>
          </p:nvSpPr>
          <p:spPr bwMode="gray">
            <a:xfrm>
              <a:off x="7307263" y="1620845"/>
              <a:ext cx="1081087" cy="2808288"/>
            </a:xfrm>
            <a:prstGeom prst="rect">
              <a:avLst/>
            </a:prstGeom>
            <a:solidFill>
              <a:srgbClr val="BBC8AC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/>
              <a:r>
                <a:rPr lang="de-DE" sz="2000" dirty="0">
                  <a:latin typeface="Arial Narrow" pitchFamily="34" charset="0"/>
                </a:rPr>
                <a:t>User</a:t>
              </a:r>
            </a:p>
            <a:p>
              <a:pPr algn="ctr"/>
              <a:r>
                <a:rPr lang="de-DE" sz="2000" dirty="0" err="1">
                  <a:latin typeface="Arial Narrow" pitchFamily="34" charset="0"/>
                </a:rPr>
                <a:t>accounts</a:t>
              </a:r>
              <a:endParaRPr lang="de-DE" sz="2000" dirty="0">
                <a:latin typeface="Arial Narrow" pitchFamily="34" charset="0"/>
              </a:endParaRPr>
            </a:p>
          </p:txBody>
        </p:sp>
        <p:sp>
          <p:nvSpPr>
            <p:cNvPr id="34840" name="Freeform 26"/>
            <p:cNvSpPr>
              <a:spLocks/>
            </p:cNvSpPr>
            <p:nvPr/>
          </p:nvSpPr>
          <p:spPr bwMode="gray">
            <a:xfrm>
              <a:off x="4786313" y="1620845"/>
              <a:ext cx="2447925" cy="2808288"/>
            </a:xfrm>
            <a:custGeom>
              <a:avLst/>
              <a:gdLst>
                <a:gd name="T0" fmla="*/ 0 w 1633"/>
                <a:gd name="T1" fmla="*/ 0 h 1769"/>
                <a:gd name="T2" fmla="*/ 589 w 1633"/>
                <a:gd name="T3" fmla="*/ 0 h 1769"/>
                <a:gd name="T4" fmla="*/ 589 w 1633"/>
                <a:gd name="T5" fmla="*/ 1088 h 1769"/>
                <a:gd name="T6" fmla="*/ 1633 w 1633"/>
                <a:gd name="T7" fmla="*/ 1088 h 1769"/>
                <a:gd name="T8" fmla="*/ 1633 w 1633"/>
                <a:gd name="T9" fmla="*/ 1769 h 1769"/>
                <a:gd name="T10" fmla="*/ 0 w 1633"/>
                <a:gd name="T11" fmla="*/ 1769 h 1769"/>
                <a:gd name="T12" fmla="*/ 0 w 1633"/>
                <a:gd name="T13" fmla="*/ 0 h 17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33"/>
                <a:gd name="T22" fmla="*/ 0 h 1769"/>
                <a:gd name="T23" fmla="*/ 1633 w 1633"/>
                <a:gd name="T24" fmla="*/ 1769 h 176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33" h="1769">
                  <a:moveTo>
                    <a:pt x="0" y="0"/>
                  </a:moveTo>
                  <a:lnTo>
                    <a:pt x="589" y="0"/>
                  </a:lnTo>
                  <a:lnTo>
                    <a:pt x="589" y="1088"/>
                  </a:lnTo>
                  <a:lnTo>
                    <a:pt x="1633" y="1088"/>
                  </a:lnTo>
                  <a:lnTo>
                    <a:pt x="1633" y="1769"/>
                  </a:lnTo>
                  <a:lnTo>
                    <a:pt x="0" y="17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4357B"/>
            </a:solidFill>
            <a:ln w="19050">
              <a:solidFill>
                <a:srgbClr val="FFFFFF"/>
              </a:solidFill>
              <a:round/>
              <a:headEnd/>
              <a:tailEnd type="none" w="lg" len="lg"/>
            </a:ln>
          </p:spPr>
          <p:txBody>
            <a:bodyPr wrap="none" lIns="0" tIns="0" rIns="0" bIns="0" anchor="ctr"/>
            <a:lstStyle/>
            <a:p>
              <a:endParaRPr lang="de-DE"/>
            </a:p>
          </p:txBody>
        </p:sp>
        <p:sp>
          <p:nvSpPr>
            <p:cNvPr id="34841" name="Rectangle 27"/>
            <p:cNvSpPr>
              <a:spLocks noChangeArrowheads="1"/>
            </p:cNvSpPr>
            <p:nvPr/>
          </p:nvSpPr>
          <p:spPr bwMode="auto">
            <a:xfrm>
              <a:off x="4783138" y="3276608"/>
              <a:ext cx="2595562" cy="1123950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de-DE" sz="2000">
                  <a:solidFill>
                    <a:schemeClr val="bg1"/>
                  </a:solidFill>
                  <a:latin typeface="Arial Narrow" pitchFamily="34" charset="0"/>
                </a:rPr>
                <a:t>Client dependent</a:t>
              </a:r>
            </a:p>
            <a:p>
              <a:pPr algn="ctr"/>
              <a:r>
                <a:rPr lang="de-DE" sz="2000">
                  <a:solidFill>
                    <a:schemeClr val="bg1"/>
                  </a:solidFill>
                  <a:latin typeface="Arial Narrow" pitchFamily="34" charset="0"/>
                </a:rPr>
                <a:t> Customizing</a:t>
              </a:r>
            </a:p>
          </p:txBody>
        </p:sp>
        <p:sp>
          <p:nvSpPr>
            <p:cNvPr id="34843" name="Rectangle 37"/>
            <p:cNvSpPr>
              <a:spLocks noChangeArrowheads="1"/>
            </p:cNvSpPr>
            <p:nvPr/>
          </p:nvSpPr>
          <p:spPr bwMode="gray">
            <a:xfrm>
              <a:off x="642938" y="5060970"/>
              <a:ext cx="7561262" cy="431800"/>
            </a:xfrm>
            <a:prstGeom prst="rect">
              <a:avLst/>
            </a:prstGeom>
            <a:solidFill>
              <a:srgbClr val="F0AB00"/>
            </a:solidFill>
            <a:ln w="19050" algn="ctr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r"/>
              <a:r>
                <a:rPr lang="de-DE" b="1">
                  <a:solidFill>
                    <a:schemeClr val="bg1"/>
                  </a:solidFill>
                </a:rPr>
                <a:t>Transport request 1</a:t>
              </a:r>
            </a:p>
          </p:txBody>
        </p:sp>
        <p:sp>
          <p:nvSpPr>
            <p:cNvPr id="34844" name="Rectangle 38"/>
            <p:cNvSpPr>
              <a:spLocks noChangeArrowheads="1"/>
            </p:cNvSpPr>
            <p:nvPr/>
          </p:nvSpPr>
          <p:spPr bwMode="gray">
            <a:xfrm>
              <a:off x="642938" y="5613420"/>
              <a:ext cx="7561262" cy="431800"/>
            </a:xfrm>
            <a:prstGeom prst="rect">
              <a:avLst/>
            </a:prstGeom>
            <a:solidFill>
              <a:srgbClr val="F0AB00"/>
            </a:solidFill>
            <a:ln w="19050" algn="ctr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r"/>
              <a:r>
                <a:rPr lang="de-DE" b="1">
                  <a:solidFill>
                    <a:schemeClr val="bg1"/>
                  </a:solidFill>
                </a:rPr>
                <a:t>Transport request 2</a:t>
              </a:r>
            </a:p>
          </p:txBody>
        </p:sp>
        <p:sp>
          <p:nvSpPr>
            <p:cNvPr id="34845" name="Rectangle 24"/>
            <p:cNvSpPr>
              <a:spLocks noChangeArrowheads="1"/>
            </p:cNvSpPr>
            <p:nvPr/>
          </p:nvSpPr>
          <p:spPr bwMode="gray">
            <a:xfrm>
              <a:off x="684213" y="5132408"/>
              <a:ext cx="574675" cy="304800"/>
            </a:xfrm>
            <a:prstGeom prst="rect">
              <a:avLst/>
            </a:prstGeom>
            <a:solidFill>
              <a:srgbClr val="CCCCCC"/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>
                <a:buClr>
                  <a:srgbClr val="44697D"/>
                </a:buClr>
                <a:buSzPct val="80000"/>
                <a:buFont typeface="Wingdings" pitchFamily="2" charset="2"/>
                <a:buNone/>
              </a:pPr>
              <a:endParaRPr lang="en-GB" sz="1000"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34846" name="Rectangle 24"/>
            <p:cNvSpPr>
              <a:spLocks noChangeArrowheads="1"/>
            </p:cNvSpPr>
            <p:nvPr/>
          </p:nvSpPr>
          <p:spPr bwMode="gray">
            <a:xfrm>
              <a:off x="2125663" y="5132408"/>
              <a:ext cx="574675" cy="304800"/>
            </a:xfrm>
            <a:prstGeom prst="rect">
              <a:avLst/>
            </a:prstGeom>
            <a:solidFill>
              <a:srgbClr val="CCCCCC"/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>
                <a:buClr>
                  <a:srgbClr val="44697D"/>
                </a:buClr>
                <a:buSzPct val="80000"/>
                <a:buFont typeface="Wingdings" pitchFamily="2" charset="2"/>
                <a:buNone/>
              </a:pPr>
              <a:endParaRPr lang="en-GB" sz="1000"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34847" name="Rectangle 24"/>
            <p:cNvSpPr>
              <a:spLocks noChangeArrowheads="1"/>
            </p:cNvSpPr>
            <p:nvPr/>
          </p:nvSpPr>
          <p:spPr bwMode="gray">
            <a:xfrm>
              <a:off x="3565525" y="5132408"/>
              <a:ext cx="574675" cy="304800"/>
            </a:xfrm>
            <a:prstGeom prst="rect">
              <a:avLst/>
            </a:prstGeom>
            <a:solidFill>
              <a:srgbClr val="CCCCCC"/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>
                <a:buClr>
                  <a:srgbClr val="44697D"/>
                </a:buClr>
                <a:buSzPct val="80000"/>
                <a:buFont typeface="Wingdings" pitchFamily="2" charset="2"/>
                <a:buNone/>
              </a:pPr>
              <a:endParaRPr lang="en-GB" sz="1000"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34848" name="Rectangle 24"/>
            <p:cNvSpPr>
              <a:spLocks noChangeArrowheads="1"/>
            </p:cNvSpPr>
            <p:nvPr/>
          </p:nvSpPr>
          <p:spPr bwMode="gray">
            <a:xfrm>
              <a:off x="1403350" y="5676920"/>
              <a:ext cx="574675" cy="304800"/>
            </a:xfrm>
            <a:prstGeom prst="rect">
              <a:avLst/>
            </a:prstGeom>
            <a:solidFill>
              <a:srgbClr val="CCCCCC"/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>
                <a:buClr>
                  <a:srgbClr val="44697D"/>
                </a:buClr>
                <a:buSzPct val="80000"/>
                <a:buFont typeface="Wingdings" pitchFamily="2" charset="2"/>
                <a:buNone/>
              </a:pPr>
              <a:endParaRPr lang="en-GB" sz="1000"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34849" name="Rectangle 24"/>
            <p:cNvSpPr>
              <a:spLocks noChangeArrowheads="1"/>
            </p:cNvSpPr>
            <p:nvPr/>
          </p:nvSpPr>
          <p:spPr bwMode="gray">
            <a:xfrm>
              <a:off x="2844800" y="5676920"/>
              <a:ext cx="574675" cy="304800"/>
            </a:xfrm>
            <a:prstGeom prst="rect">
              <a:avLst/>
            </a:prstGeom>
            <a:solidFill>
              <a:srgbClr val="CCCCCC"/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>
                <a:buClr>
                  <a:srgbClr val="44697D"/>
                </a:buClr>
                <a:buSzPct val="80000"/>
                <a:buFont typeface="Wingdings" pitchFamily="2" charset="2"/>
                <a:buNone/>
              </a:pPr>
              <a:endParaRPr lang="en-GB" sz="1000"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34850" name="Rectangle 24"/>
            <p:cNvSpPr>
              <a:spLocks noChangeArrowheads="1"/>
            </p:cNvSpPr>
            <p:nvPr/>
          </p:nvSpPr>
          <p:spPr bwMode="gray">
            <a:xfrm>
              <a:off x="3563938" y="5676920"/>
              <a:ext cx="574675" cy="304800"/>
            </a:xfrm>
            <a:prstGeom prst="rect">
              <a:avLst/>
            </a:prstGeom>
            <a:solidFill>
              <a:srgbClr val="CCCCCC"/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>
                <a:buClr>
                  <a:srgbClr val="44697D"/>
                </a:buClr>
                <a:buSzPct val="80000"/>
                <a:buFont typeface="Wingdings" pitchFamily="2" charset="2"/>
                <a:buNone/>
              </a:pPr>
              <a:endParaRPr lang="en-GB" sz="1000"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34851" name="Rectangle 24"/>
            <p:cNvSpPr>
              <a:spLocks noChangeArrowheads="1"/>
            </p:cNvSpPr>
            <p:nvPr/>
          </p:nvSpPr>
          <p:spPr bwMode="gray">
            <a:xfrm>
              <a:off x="4284663" y="5676920"/>
              <a:ext cx="574675" cy="304800"/>
            </a:xfrm>
            <a:prstGeom prst="rect">
              <a:avLst/>
            </a:prstGeom>
            <a:solidFill>
              <a:srgbClr val="CCCCCC"/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>
                <a:buClr>
                  <a:srgbClr val="44697D"/>
                </a:buClr>
                <a:buSzPct val="80000"/>
                <a:buFont typeface="Wingdings" pitchFamily="2" charset="2"/>
                <a:buNone/>
              </a:pPr>
              <a:endParaRPr lang="en-GB" sz="1000"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34852" name="Rectangle 24"/>
            <p:cNvSpPr>
              <a:spLocks noChangeArrowheads="1"/>
            </p:cNvSpPr>
            <p:nvPr/>
          </p:nvSpPr>
          <p:spPr bwMode="gray">
            <a:xfrm>
              <a:off x="5005388" y="5676920"/>
              <a:ext cx="574675" cy="304800"/>
            </a:xfrm>
            <a:prstGeom prst="rect">
              <a:avLst/>
            </a:prstGeom>
            <a:solidFill>
              <a:srgbClr val="CCCCCC"/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>
                <a:buClr>
                  <a:srgbClr val="44697D"/>
                </a:buClr>
                <a:buSzPct val="80000"/>
                <a:buFont typeface="Wingdings" pitchFamily="2" charset="2"/>
                <a:buNone/>
              </a:pPr>
              <a:endParaRPr lang="en-GB" sz="1000">
                <a:ea typeface="Arial Unicode MS" pitchFamily="34" charset="-128"/>
                <a:cs typeface="Arial Unicode MS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25247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SAP NETWEAVER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 smtClean="0">
                <a:solidFill>
                  <a:srgbClr val="002060"/>
                </a:solidFill>
              </a:rPr>
              <a:t>An open platform for managing and configuring business application for the development of workbench application</a:t>
            </a:r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5483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SAP MODULES </a:t>
            </a:r>
            <a:r>
              <a:rPr lang="en-US" b="1" dirty="0" smtClean="0">
                <a:solidFill>
                  <a:srgbClr val="FF0000"/>
                </a:solidFill>
              </a:rPr>
              <a:t>	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2060"/>
                </a:solidFill>
              </a:rPr>
              <a:t>Two types :</a:t>
            </a:r>
          </a:p>
          <a:p>
            <a:pPr marL="0" indent="0">
              <a:buNone/>
            </a:pPr>
            <a:endParaRPr lang="en-US" dirty="0" smtClean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smtClean="0">
                <a:solidFill>
                  <a:srgbClr val="002060"/>
                </a:solidFill>
              </a:rPr>
              <a:t>     1. Functional Module</a:t>
            </a:r>
          </a:p>
          <a:p>
            <a:pPr marL="0" indent="0">
              <a:buNone/>
            </a:pPr>
            <a:endParaRPr lang="en-US" dirty="0" smtClean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smtClean="0">
                <a:solidFill>
                  <a:srgbClr val="002060"/>
                </a:solidFill>
              </a:rPr>
              <a:t>     2. Technical Module</a:t>
            </a:r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3203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Functional Module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915400" cy="5486400"/>
          </a:xfrm>
        </p:spPr>
        <p:txBody>
          <a:bodyPr>
            <a:normAutofit lnSpcReduction="10000"/>
          </a:bodyPr>
          <a:lstStyle/>
          <a:p>
            <a:pPr fontAlgn="base">
              <a:spcBef>
                <a:spcPct val="0"/>
              </a:spcBef>
            </a:pPr>
            <a:r>
              <a:rPr lang="en-US" sz="4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FICO – Finance &amp; Control</a:t>
            </a:r>
          </a:p>
          <a:p>
            <a:pPr fontAlgn="base">
              <a:spcBef>
                <a:spcPct val="0"/>
              </a:spcBef>
            </a:pPr>
            <a:r>
              <a:rPr lang="en-US" sz="4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PP – Production Planning</a:t>
            </a:r>
          </a:p>
          <a:p>
            <a:pPr fontAlgn="base">
              <a:spcBef>
                <a:spcPct val="0"/>
              </a:spcBef>
            </a:pPr>
            <a:r>
              <a:rPr lang="en-US" sz="4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MM – Material Management</a:t>
            </a:r>
          </a:p>
          <a:p>
            <a:pPr fontAlgn="base">
              <a:spcBef>
                <a:spcPct val="0"/>
              </a:spcBef>
            </a:pPr>
            <a:r>
              <a:rPr lang="en-US" sz="4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SD – Sales &amp; Distribution</a:t>
            </a:r>
          </a:p>
          <a:p>
            <a:pPr fontAlgn="base">
              <a:spcBef>
                <a:spcPct val="0"/>
              </a:spcBef>
            </a:pPr>
            <a:r>
              <a:rPr lang="en-US" sz="4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WM – Warehouse Management</a:t>
            </a:r>
          </a:p>
          <a:p>
            <a:pPr fontAlgn="base">
              <a:spcBef>
                <a:spcPct val="0"/>
              </a:spcBef>
            </a:pPr>
            <a:r>
              <a:rPr lang="en-US" sz="4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QM – Quality Management</a:t>
            </a:r>
          </a:p>
          <a:p>
            <a:pPr fontAlgn="base">
              <a:spcBef>
                <a:spcPct val="0"/>
              </a:spcBef>
            </a:pPr>
            <a:r>
              <a:rPr lang="en-US" sz="4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HR – Human Resources</a:t>
            </a:r>
          </a:p>
          <a:p>
            <a:pPr fontAlgn="base">
              <a:spcBef>
                <a:spcPct val="0"/>
              </a:spcBef>
            </a:pPr>
            <a:r>
              <a:rPr lang="en-US" sz="4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CRM – Customer Relationship Management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6756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Technical Module</a:t>
            </a:r>
            <a:r>
              <a:rPr lang="en-US" dirty="0">
                <a:solidFill>
                  <a:srgbClr val="002060"/>
                </a:solidFill>
              </a:rPr>
              <a:t/>
            </a:r>
            <a:br>
              <a:rPr lang="en-US" dirty="0">
                <a:solidFill>
                  <a:srgbClr val="002060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ABAP – Advanced business applications programming</a:t>
            </a:r>
          </a:p>
          <a:p>
            <a:pPr fontAlgn="base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XI – Exchange Infrastructure</a:t>
            </a:r>
          </a:p>
          <a:p>
            <a:pPr fontAlgn="base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Net viewer</a:t>
            </a:r>
          </a:p>
          <a:p>
            <a:pPr fontAlgn="base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Basis</a:t>
            </a:r>
          </a:p>
          <a:p>
            <a:pPr fontAlgn="base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BIW – Business Information Warehousing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15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2401"/>
            <a:ext cx="7772400" cy="1295399"/>
          </a:xfrm>
        </p:spPr>
        <p:txBody>
          <a:bodyPr/>
          <a:lstStyle/>
          <a:p>
            <a:r>
              <a:rPr lang="en-US" b="1" dirty="0" smtClean="0"/>
              <a:t>SAP Modules:</a:t>
            </a:r>
            <a:endParaRPr lang="en-US" b="1" dirty="0"/>
          </a:p>
        </p:txBody>
      </p:sp>
      <p:pic>
        <p:nvPicPr>
          <p:cNvPr id="4" name="Picture 3" descr="SAP-Modules-list-of-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19200"/>
            <a:ext cx="8153399" cy="5410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04801"/>
            <a:ext cx="7772400" cy="1371599"/>
          </a:xfrm>
        </p:spPr>
        <p:txBody>
          <a:bodyPr/>
          <a:lstStyle/>
          <a:p>
            <a:r>
              <a:rPr lang="en-US" dirty="0" smtClean="0"/>
              <a:t>What is ABAP?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2209800"/>
            <a:ext cx="8229600" cy="3429000"/>
          </a:xfrm>
        </p:spPr>
        <p:txBody>
          <a:bodyPr/>
          <a:lstStyle/>
          <a:p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Advanced Business Application Programming Language</a:t>
            </a:r>
          </a:p>
          <a:p>
            <a:endParaRPr lang="en-US" dirty="0" smtClean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Basically this is the Back end of SAP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1"/>
            <a:ext cx="7772400" cy="1295399"/>
          </a:xfrm>
        </p:spPr>
        <p:txBody>
          <a:bodyPr/>
          <a:lstStyle/>
          <a:p>
            <a:r>
              <a:rPr lang="en-US" b="1" dirty="0" smtClean="0"/>
              <a:t>ABAP Programming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362200"/>
            <a:ext cx="6400800" cy="1676400"/>
          </a:xfrm>
        </p:spPr>
        <p:txBody>
          <a:bodyPr/>
          <a:lstStyle/>
          <a:p>
            <a:pPr algn="l"/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1. ABAP Report</a:t>
            </a:r>
          </a:p>
          <a:p>
            <a:pPr algn="l"/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2. Dialog Programming(Transaction)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Rounded MT Bold" pitchFamily="34" charset="0"/>
              </a:rPr>
              <a:t>ABAP Programming: Report</a:t>
            </a:r>
            <a:endParaRPr lang="en-US" dirty="0">
              <a:latin typeface="Arial Rounded MT Bold" pitchFamily="34" charset="0"/>
            </a:endParaRPr>
          </a:p>
        </p:txBody>
      </p:sp>
      <p:pic>
        <p:nvPicPr>
          <p:cNvPr id="3" name="Picture 2" descr="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805" y="2176287"/>
            <a:ext cx="7186595" cy="33101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Rounded MT Bold" pitchFamily="34" charset="0"/>
              </a:rPr>
              <a:t>ABAP Programming: Dialog</a:t>
            </a:r>
            <a:endParaRPr lang="en-US" dirty="0"/>
          </a:p>
        </p:txBody>
      </p:sp>
      <p:pic>
        <p:nvPicPr>
          <p:cNvPr id="3" name="Picture 2" descr="chang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23892"/>
            <a:ext cx="7848600" cy="328630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Object Navigator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052513"/>
            <a:ext cx="8229600" cy="452596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400" dirty="0" smtClean="0"/>
          </a:p>
          <a:p>
            <a:r>
              <a:rPr lang="en-US" sz="2400" dirty="0" smtClean="0"/>
              <a:t>Object Navigator integrates all development tools</a:t>
            </a:r>
          </a:p>
        </p:txBody>
      </p:sp>
      <p:pic>
        <p:nvPicPr>
          <p:cNvPr id="43012" name="Picture 4" descr="object navigato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3713" y="2205038"/>
            <a:ext cx="5329237" cy="4119562"/>
          </a:xfrm>
          <a:prstGeom prst="rect">
            <a:avLst/>
          </a:prstGeom>
          <a:noFill/>
        </p:spPr>
      </p:pic>
      <p:sp>
        <p:nvSpPr>
          <p:cNvPr id="43013" name="Rectangle 5"/>
          <p:cNvSpPr>
            <a:spLocks noChangeArrowheads="1"/>
          </p:cNvSpPr>
          <p:nvPr/>
        </p:nvSpPr>
        <p:spPr bwMode="auto">
          <a:xfrm>
            <a:off x="1784350" y="2609850"/>
            <a:ext cx="5299075" cy="374650"/>
          </a:xfrm>
          <a:prstGeom prst="rect">
            <a:avLst/>
          </a:prstGeom>
          <a:solidFill>
            <a:srgbClr val="FFD365">
              <a:alpha val="60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43014" name="Rectangle 6"/>
          <p:cNvSpPr>
            <a:spLocks noChangeArrowheads="1"/>
          </p:cNvSpPr>
          <p:nvPr/>
        </p:nvSpPr>
        <p:spPr bwMode="auto">
          <a:xfrm>
            <a:off x="1763713" y="3789363"/>
            <a:ext cx="2125662" cy="2324100"/>
          </a:xfrm>
          <a:prstGeom prst="rect">
            <a:avLst/>
          </a:prstGeom>
          <a:solidFill>
            <a:srgbClr val="FE3600">
              <a:alpha val="60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43015" name="Text Box 7"/>
          <p:cNvSpPr txBox="1">
            <a:spLocks noChangeArrowheads="1"/>
          </p:cNvSpPr>
          <p:nvPr/>
        </p:nvSpPr>
        <p:spPr bwMode="auto">
          <a:xfrm>
            <a:off x="-22225" y="4652963"/>
            <a:ext cx="18351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de-DE" b="1">
                <a:solidFill>
                  <a:srgbClr val="FE3600"/>
                </a:solidFill>
              </a:rPr>
              <a:t>Navigation tree</a:t>
            </a:r>
          </a:p>
          <a:p>
            <a:pPr algn="ctr"/>
            <a:r>
              <a:rPr lang="de-DE" b="1">
                <a:solidFill>
                  <a:srgbClr val="FE3600"/>
                </a:solidFill>
              </a:rPr>
              <a:t>(independent)</a:t>
            </a:r>
          </a:p>
        </p:txBody>
      </p:sp>
      <p:sp>
        <p:nvSpPr>
          <p:cNvPr id="43016" name="Rectangle 8"/>
          <p:cNvSpPr>
            <a:spLocks noChangeArrowheads="1"/>
          </p:cNvSpPr>
          <p:nvPr/>
        </p:nvSpPr>
        <p:spPr bwMode="auto">
          <a:xfrm>
            <a:off x="1763713" y="2989263"/>
            <a:ext cx="2103437" cy="800100"/>
          </a:xfrm>
          <a:prstGeom prst="rect">
            <a:avLst/>
          </a:prstGeom>
          <a:solidFill>
            <a:schemeClr val="accent1">
              <a:alpha val="60001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43017" name="Rectangle 9"/>
          <p:cNvSpPr>
            <a:spLocks noChangeArrowheads="1"/>
          </p:cNvSpPr>
          <p:nvPr/>
        </p:nvSpPr>
        <p:spPr bwMode="auto">
          <a:xfrm>
            <a:off x="3876675" y="2981325"/>
            <a:ext cx="3184525" cy="3140075"/>
          </a:xfrm>
          <a:prstGeom prst="rect">
            <a:avLst/>
          </a:prstGeom>
          <a:solidFill>
            <a:srgbClr val="494949">
              <a:alpha val="60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43018" name="Text Box 10"/>
          <p:cNvSpPr txBox="1">
            <a:spLocks noChangeArrowheads="1"/>
          </p:cNvSpPr>
          <p:nvPr/>
        </p:nvSpPr>
        <p:spPr bwMode="auto">
          <a:xfrm>
            <a:off x="128588" y="3068638"/>
            <a:ext cx="16954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de-DE" b="1">
                <a:solidFill>
                  <a:schemeClr val="accent1"/>
                </a:solidFill>
              </a:rPr>
              <a:t>Browsers</a:t>
            </a:r>
          </a:p>
          <a:p>
            <a:pPr algn="ctr"/>
            <a:r>
              <a:rPr lang="de-DE" b="1">
                <a:solidFill>
                  <a:schemeClr val="accent1"/>
                </a:solidFill>
              </a:rPr>
              <a:t>(independent)</a:t>
            </a:r>
          </a:p>
        </p:txBody>
      </p:sp>
      <p:sp>
        <p:nvSpPr>
          <p:cNvPr id="43019" name="Text Box 11"/>
          <p:cNvSpPr txBox="1">
            <a:spLocks noChangeArrowheads="1"/>
          </p:cNvSpPr>
          <p:nvPr/>
        </p:nvSpPr>
        <p:spPr bwMode="auto">
          <a:xfrm>
            <a:off x="7010400" y="2492375"/>
            <a:ext cx="21907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de-DE" b="1">
                <a:solidFill>
                  <a:srgbClr val="F0AB00"/>
                </a:solidFill>
              </a:rPr>
              <a:t>Toolbar </a:t>
            </a:r>
          </a:p>
          <a:p>
            <a:pPr algn="ctr"/>
            <a:r>
              <a:rPr lang="de-DE" b="1">
                <a:solidFill>
                  <a:srgbClr val="F0AB00"/>
                </a:solidFill>
              </a:rPr>
              <a:t>(context sensitive)</a:t>
            </a:r>
          </a:p>
        </p:txBody>
      </p:sp>
      <p:sp>
        <p:nvSpPr>
          <p:cNvPr id="43020" name="Text Box 12"/>
          <p:cNvSpPr txBox="1">
            <a:spLocks noChangeArrowheads="1"/>
          </p:cNvSpPr>
          <p:nvPr/>
        </p:nvSpPr>
        <p:spPr bwMode="auto">
          <a:xfrm>
            <a:off x="7035800" y="4005263"/>
            <a:ext cx="21907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de-DE" b="1">
                <a:solidFill>
                  <a:srgbClr val="494949"/>
                </a:solidFill>
              </a:rPr>
              <a:t>Working space </a:t>
            </a:r>
          </a:p>
          <a:p>
            <a:pPr algn="ctr"/>
            <a:r>
              <a:rPr lang="de-DE" b="1">
                <a:solidFill>
                  <a:srgbClr val="494949"/>
                </a:solidFill>
              </a:rPr>
              <a:t>(context sensitive)</a:t>
            </a:r>
          </a:p>
        </p:txBody>
      </p:sp>
    </p:spTree>
    <p:extLst>
      <p:ext uri="{BB962C8B-B14F-4D97-AF65-F5344CB8AC3E}">
        <p14:creationId xmlns:p14="http://schemas.microsoft.com/office/powerpoint/2010/main" val="3204172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357</TotalTime>
  <Words>351</Words>
  <Application>Microsoft Office PowerPoint</Application>
  <PresentationFormat>On-screen Show (4:3)</PresentationFormat>
  <Paragraphs>104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 Unicode MS</vt:lpstr>
      <vt:lpstr>Andalus</vt:lpstr>
      <vt:lpstr>Arial</vt:lpstr>
      <vt:lpstr>Arial Narrow</vt:lpstr>
      <vt:lpstr>Arial Rounded MT Bold</vt:lpstr>
      <vt:lpstr>Calibri</vt:lpstr>
      <vt:lpstr>Wingdings</vt:lpstr>
      <vt:lpstr>Office Theme</vt:lpstr>
      <vt:lpstr>PowerPoint Presentation</vt:lpstr>
      <vt:lpstr>What is ERP?</vt:lpstr>
      <vt:lpstr>Example of ERP System: </vt:lpstr>
      <vt:lpstr>Integration:</vt:lpstr>
      <vt:lpstr>ERP System</vt:lpstr>
      <vt:lpstr>What we are looking for:</vt:lpstr>
      <vt:lpstr>What is SAP? </vt:lpstr>
      <vt:lpstr>SAP History </vt:lpstr>
      <vt:lpstr>SAP Layer History</vt:lpstr>
      <vt:lpstr>SAP System: What is R/3 layer Architecture?</vt:lpstr>
      <vt:lpstr>Three Layers are:</vt:lpstr>
      <vt:lpstr>PowerPoint Presentation</vt:lpstr>
      <vt:lpstr>Transport Requests in Repository</vt:lpstr>
      <vt:lpstr>SAP NETWEAVER</vt:lpstr>
      <vt:lpstr>SAP MODULES  </vt:lpstr>
      <vt:lpstr>Functional Module </vt:lpstr>
      <vt:lpstr>Technical Module </vt:lpstr>
      <vt:lpstr>SAP Modules:</vt:lpstr>
      <vt:lpstr>What is ABAP?</vt:lpstr>
      <vt:lpstr>ABAP Programming</vt:lpstr>
      <vt:lpstr>ABAP Programming: Report</vt:lpstr>
      <vt:lpstr>ABAP Programming: Dialog</vt:lpstr>
      <vt:lpstr>Object Navigator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SAP - ABAP</dc:title>
  <dc:creator>Bubai</dc:creator>
  <cp:lastModifiedBy>admin</cp:lastModifiedBy>
  <cp:revision>31</cp:revision>
  <dcterms:created xsi:type="dcterms:W3CDTF">2018-07-29T16:04:32Z</dcterms:created>
  <dcterms:modified xsi:type="dcterms:W3CDTF">2023-07-27T07:23:04Z</dcterms:modified>
</cp:coreProperties>
</file>